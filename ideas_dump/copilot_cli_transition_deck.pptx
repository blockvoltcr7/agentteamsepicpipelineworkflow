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Docs, "Your first prompt file": prompt files are only available in VS Code, Visual Studio, and JetBrains IDEs.
- GitHub Docs, "Creating and using custom agents for GitHub Copilot CLI": custom agents tailor expertise and use subagents with separate context windows.
- GitHub Docs, "Creating agent skills for GitHub Copilot CLI": skills are instructions, scripts, and resources Copilot loads for specialized tasks.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Docs, "Your first prompt file," lines 495-505 and 551-555: prompt files are only available in VS Code, Visual Studio, and JetBrains IDEs and are invoked in the IDE using slash commands.
- GitHub Docs, "Invoking custom agents," lines 485-510 and 535-539: Copilot CLI uses custom agents, skills, and MCP; CLI can use subsidiary subagent processes.
- GitHub Docs, "Creating and using custom agents for GitHub Copilot CLI," lines 497-500: custom-agent work is carried out by a subagent with its own context window.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Docs, "Copilot customization cheat sheet," lines 492-500: feature overview includes prompt files, custom agents, and subagents.
- GitHub Docs, "Your first prompt file," lines 497-504: prompt files are only available in VS Code, Visual Studio, and JetBrains IDEs.
- GitHub Docs, "Creating agent skills for GitHub Copilot CLI," lines 495-505: skills are reusable instructions, scripts, and resources and can live in project or user locations.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Docs, "Copilot customization cheat sheet": differentiates custom instructions, prompt files, custom agents, and subagents.
- GitHub Docs, "Invoking custom agents": CLI supports custom agents, skills, and MCP servers.
- GitHub Docs, "Creating and using custom agents for GitHub Copilot CLI": subagents isolate context for delegated work.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slide maps the user’s described workflow into the official Copilot CLI customization model from GitHub Docs.
- GitHub Docs, "Creating and using custom agents for GitHub Copilot CLI": custom agents are for specific tasks and offload work using subagents.
- GitHub Docs, "Creating agent skills for GitHub Copilot CLI": skills are reusable task helpers.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Blog, "Run multiple agents at once with /fleet in Copilot CLI," lines 440-452 and 467-471: /fleet dispatches multiple subagents in parallel, each with its own context window; prompts should map work to concrete artifacts and identify what is independent.
- GitHub Docs, "Creating and using custom agents for GitHub Copilot CLI," line 500: subagents isolate context from the main agent.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migration pattern is a synthesis based on the official GitHub Docs support model for prompt files, custom agents, skills, and subagents.
- GitHub Docs, "Copilot customization cheat sheet."
- GitHub Docs, "Your first prompt file."
- GitHub Docs, "Creating and using custom agents for GitHub Copilot CLI."
- GitHub Docs, "Creating agent skills for GitHub Copilot CLI."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Synthesis based on GitHub Docs: prompt files remain IDE-only; Copilot CLI focuses on custom agents, skills, MCP, and subagent-based delegation.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From Prompt Files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to Agents +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9659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</a:rPr>
              <a:t>How to explain the GitHub Copilot CLI shift to teams used to prompt-file workflows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1783080" cy="292608"/>
          </a:xfrm>
          <a:prstGeom prst="roundRect">
            <a:avLst>
              <a:gd name="adj" fmla="val 37500"/>
            </a:avLst>
          </a:prstGeom>
          <a:solidFill>
            <a:srgbClr val="A371F7">
              <a:alpha val="92000"/>
            </a:srgbClr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9464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people are confused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2514600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58A6FF">
              <a:alpha val="92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256946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changed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13632" y="2514600"/>
            <a:ext cx="1737360" cy="292608"/>
          </a:xfrm>
          <a:prstGeom prst="roundRect">
            <a:avLst>
              <a:gd name="adj" fmla="val 37500"/>
            </a:avLst>
          </a:prstGeom>
          <a:solidFill>
            <a:srgbClr val="3FB950">
              <a:alpha val="9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86784" y="256946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Recommended pattern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658368"/>
            <a:ext cx="5212080" cy="507492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078992"/>
            <a:ext cx="2029968" cy="3383280"/>
          </a:xfrm>
          <a:prstGeom prst="roundRect">
            <a:avLst>
              <a:gd name="adj" fmla="val 5405"/>
            </a:avLst>
          </a:prstGeom>
          <a:solidFill>
            <a:srgbClr val="1016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136" y="1078992"/>
            <a:ext cx="2029968" cy="3383280"/>
          </a:xfrm>
          <a:prstGeom prst="roundRect">
            <a:avLst>
              <a:gd name="adj" fmla="val 5405"/>
            </a:avLst>
          </a:prstGeom>
          <a:solidFill>
            <a:srgbClr val="10161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3408" y="1261872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F2CC60">
              <a:alpha val="92000"/>
            </a:srgbClr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316736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53728" y="1261872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3FB950">
              <a:alpha val="9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13167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182880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6FC"/>
                </a:solidFill>
              </a:rPr>
              <a:t>`.github/prompts`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0F6FC"/>
                </a:solidFill>
              </a:rPr>
              <a:t>slash commands in IDE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0F6FC"/>
                </a:solidFill>
              </a:rPr>
              <a:t>one-off workflows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62872" y="17830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agents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+ skills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+ subagents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+ MCP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29400" y="4590288"/>
            <a:ext cx="4389120" cy="749808"/>
          </a:xfrm>
          <a:prstGeom prst="roundRect">
            <a:avLst>
              <a:gd name="adj" fmla="val 14634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7823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C9D1D9"/>
                </a:solidFill>
              </a:rPr>
              <a:t>Core message: Copilot CLI is not just “prompt files in a terminal.” It favors phase specialists and reusable skills.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685800" y="6144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Stakeholder briefing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Why this feels confusing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The old mental model still works in IDE chat, but not in Copilot CLI the same way.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325880"/>
            <a:ext cx="5376672" cy="4846320"/>
          </a:xfrm>
          <a:prstGeom prst="roundRect">
            <a:avLst>
              <a:gd name="adj" fmla="val 22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1920240" cy="292608"/>
          </a:xfrm>
          <a:prstGeom prst="roundRect">
            <a:avLst>
              <a:gd name="adj" fmla="val 37500"/>
            </a:avLst>
          </a:prstGeom>
          <a:solidFill>
            <a:srgbClr val="F2CC60">
              <a:alpha val="92000"/>
            </a:srgbClr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0934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teams got used 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1783080" cy="292608"/>
          </a:xfrm>
          <a:prstGeom prst="roundRect">
            <a:avLst>
              <a:gd name="adj" fmla="val 37500"/>
            </a:avLst>
          </a:prstGeom>
          <a:solidFill>
            <a:srgbClr val="3FB950">
              <a:alpha val="9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609344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the docs now say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IDE-era habit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</a:rPr>
              <a:t>Store reusable workflows as `.github/prompts/*.prompt.md`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</a:rPr>
              <a:t>Invoke them via slash commands in the IDE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C9D1D9"/>
                </a:solidFill>
              </a:rPr>
              <a:t>Treat prompts as the main automation entry point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438912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73659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</a:rPr>
              <a:t>That habit is valid in IDEs. It becomes misleading when people expect the CLI to expose the same prompt-file model.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Official documentation reality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526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6FC"/>
                </a:solidFill>
              </a:rPr>
              <a:t>Prompt files are only available in VS Code, Visual Studio, and JetBrains IDEs.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0F6FC"/>
                </a:solidFill>
              </a:rPr>
              <a:t>Copilot CLI exposes custom agents, skills, and MCP support.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0F6FC"/>
                </a:solidFill>
              </a:rPr>
              <a:t>Custom-agent work is carried out using a subagent with its own context window.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4389120"/>
            <a:ext cx="4526280" cy="1234440"/>
          </a:xfrm>
          <a:prstGeom prst="roundRect">
            <a:avLst>
              <a:gd name="adj" fmla="val 8889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70001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</a:rPr>
              <a:t>So the transition is not “where did my prompts go?” The better question is “which responsibilities should become agents, and which mechanics should become skills?”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What changed in the product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Official support is different across IDEs and Copilot CLI.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303520"/>
          </a:xfrm>
          <a:prstGeom prst="roundRect">
            <a:avLst>
              <a:gd name="adj" fmla="val 206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Customization feature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43400" y="1783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IDE support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0" y="1783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Copilot CLI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00684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How to think about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101498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21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1D9"/>
                </a:solidFill>
              </a:rPr>
              <a:t>Prompt files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46320" y="2185416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1631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224942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</a:rPr>
              <a:t>Yes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2185416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34181A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87184" y="224942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7B72"/>
                </a:solidFill>
              </a:rPr>
              <a:t>No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2221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Best for one-off IDE workflows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2898648"/>
            <a:ext cx="101498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1D9"/>
                </a:solidFill>
              </a:rPr>
              <a:t>Custom agents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46320" y="2935224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1631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99923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</a:rPr>
              <a:t>Yes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2935224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1631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299923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</a:rPr>
              <a:t>Yes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0" y="29718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Own a phase or specialist role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3648456"/>
            <a:ext cx="101498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1D9"/>
                </a:solidFill>
              </a:rPr>
              <a:t>Agent skills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846320" y="3685032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1631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7490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</a:rPr>
              <a:t>Yes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78040" y="3685032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1631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87184" y="37490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</a:rPr>
              <a:t>Yes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21040" y="37216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Reusable task logic an agent can load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" y="4398264"/>
            <a:ext cx="101498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471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1D9"/>
                </a:solidFill>
              </a:rPr>
              <a:t>Subagents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846320" y="4434840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1631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449884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</a:rPr>
              <a:t>Yes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78040" y="4434840"/>
            <a:ext cx="822960" cy="310896"/>
          </a:xfrm>
          <a:prstGeom prst="roundRect">
            <a:avLst>
              <a:gd name="adj" fmla="val 29412"/>
            </a:avLst>
          </a:prstGeom>
          <a:solidFill>
            <a:srgbClr val="1631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449884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</a:rPr>
              <a:t>Yes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21040" y="44714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Isolated execution/context for delegated work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8680" y="5321808"/>
            <a:ext cx="9784080" cy="777240"/>
          </a:xfrm>
          <a:prstGeom prst="roundRect">
            <a:avLst>
              <a:gd name="adj" fmla="val 14118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5568" y="5559552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Headline: the CLI is not removing reuse — it is shifting reuse from prompt templates toward specialist agents and reusable skills.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The new mental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Think in layers: standards, phase specialists, reusable skills, external systems, and selective parallelism.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623560" cy="4800600"/>
          </a:xfrm>
          <a:prstGeom prst="roundRect">
            <a:avLst>
              <a:gd name="adj" fmla="val 22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1417320"/>
            <a:ext cx="5138928" cy="4800600"/>
          </a:xfrm>
          <a:prstGeom prst="roundRect">
            <a:avLst>
              <a:gd name="adj" fmla="val 22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0F15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9476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0F6FC"/>
                </a:solidFill>
              </a:rPr>
              <a:t>Repository instructions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2697480" y="194767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C9D1D9"/>
                </a:solidFill>
              </a:rPr>
              <a:t>Always-on standards, conventions, guardrails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914400" y="2615184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7340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0F6FC"/>
                </a:solidFill>
              </a:rPr>
              <a:t>Phase agents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2697480" y="2734056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C9D1D9"/>
                </a:solidFill>
              </a:rPr>
              <a:t>Story analysis, clarification, planning, Gherkin, implementation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914400" y="340156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0F1520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5204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0F6FC"/>
                </a:solidFill>
              </a:rPr>
              <a:t>Skills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2697480" y="352044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C9D1D9"/>
                </a:solidFill>
              </a:rPr>
              <a:t>Reusable mechanics: pull Jira, scan features, write artifacts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914400" y="4187952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3068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0F6FC"/>
                </a:solidFill>
              </a:rPr>
              <a:t>MCP / tools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2697480" y="430682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C9D1D9"/>
                </a:solidFill>
              </a:rPr>
              <a:t>Jira, GitHub, docs, scripts, external context</a:t>
            </a:r>
            <a:endParaRPr lang="en-US" sz="1310" dirty="0"/>
          </a:p>
        </p:txBody>
      </p:sp>
      <p:sp>
        <p:nvSpPr>
          <p:cNvPr id="18" name="Shape 16"/>
          <p:cNvSpPr/>
          <p:nvPr/>
        </p:nvSpPr>
        <p:spPr>
          <a:xfrm>
            <a:off x="914400" y="497433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0F1520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50932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0F6FC"/>
                </a:solidFill>
              </a:rPr>
              <a:t>Subagents / /fleet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2697480" y="509320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C9D1D9"/>
                </a:solidFill>
              </a:rPr>
              <a:t>Parallelize only the independent work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672084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Rule of thumb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2240280"/>
            <a:ext cx="4251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</a:rPr>
              <a:t>Agents own a phase or decision boundary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</a:rPr>
              <a:t>Skills handle repeated low-level actions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</a:rPr>
              <a:t>Artifacts on disk become the handoff contract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0F6FC"/>
                </a:solidFill>
              </a:rPr>
              <a:t>Subagents are strongest inside a phase, not as a replacement for the full pipeline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48272" y="4983480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521208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</a:rPr>
              <a:t>This is why “convert every old prompt into a skill” is too shallow. Convert responsibilities into agents and repeated mechanics into skills.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How to map today’s prompt workflow into Copilot CLI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Use one agent per major phase, with markdown artifacts as durable checkpoints.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5440680"/>
          </a:xfrm>
          <a:prstGeom prst="roundRect">
            <a:avLst>
              <a:gd name="adj" fmla="val 20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5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39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1. Story intake + pull Jira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5328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Output artifact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1832" y="2743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8A6FF"/>
                </a:solidFill>
              </a:rPr>
              <a:t>story.md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9080" y="18745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5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2039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2. Story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33672" y="25328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Output artifact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33672" y="2743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B950"/>
                </a:solidFill>
              </a:rPr>
              <a:t>story-analysis.md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60920" y="18745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520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5512" y="2039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3. Clarification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25512" y="25328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Output artifact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25512" y="2743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371F7"/>
                </a:solidFill>
              </a:rPr>
              <a:t>updated story-analysis.md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52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142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4. Test planning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1832" y="4636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Output artifact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41832" y="48463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CC60"/>
                </a:solidFill>
              </a:rPr>
              <a:t>test-plan.md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069080" y="397764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5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33672" y="4142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5. Gherkin placement + generation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33672" y="4636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Output artifact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33672" y="48463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8A6FF"/>
                </a:solidFill>
              </a:rPr>
              <a:t>.feature files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397764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5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4142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6. Step-definition planning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25512" y="4636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Output artifact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25512" y="48463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B950"/>
                </a:solidFill>
              </a:rPr>
              <a:t>implementation-plan.md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593592" y="2423160"/>
            <a:ext cx="384048" cy="301752"/>
          </a:xfrm>
          <a:prstGeom prst="chevron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85432" y="2423160"/>
            <a:ext cx="384048" cy="301752"/>
          </a:xfrm>
          <a:prstGeom prst="chevron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8732520" y="3255264"/>
            <a:ext cx="301752" cy="420624"/>
          </a:xfrm>
          <a:prstGeom prst="chevron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6885432" y="4526280"/>
            <a:ext cx="384048" cy="301752"/>
          </a:xfrm>
          <a:prstGeom prst="chevron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3593592" y="4526280"/>
            <a:ext cx="384048" cy="301752"/>
          </a:xfrm>
          <a:prstGeom prst="chevron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669280"/>
            <a:ext cx="9738360" cy="658368"/>
          </a:xfrm>
          <a:prstGeom prst="roundRect">
            <a:avLst>
              <a:gd name="adj" fmla="val 16667"/>
            </a:avLst>
          </a:prstGeom>
          <a:solidFill>
            <a:srgbClr val="111A2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587959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Each box is a clean session boundary. The next agent starts from files, not from accumulated chat context.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Where subagents create leverage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Use them for parallel work inside a phase — not as a substitute for the full sequential pipeline.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03520" cy="5166360"/>
          </a:xfrm>
          <a:prstGeom prst="roundRect">
            <a:avLst>
              <a:gd name="adj" fmla="val 21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325880"/>
            <a:ext cx="5440680" cy="5166360"/>
          </a:xfrm>
          <a:prstGeom prst="roundRect">
            <a:avLst>
              <a:gd name="adj" fmla="val 21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72768"/>
            <a:ext cx="1783080" cy="292608"/>
          </a:xfrm>
          <a:prstGeom prst="roundRect">
            <a:avLst>
              <a:gd name="adj" fmla="val 37500"/>
            </a:avLst>
          </a:prstGeom>
          <a:solidFill>
            <a:srgbClr val="F2CC60">
              <a:alpha val="92000"/>
            </a:srgbClr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2763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Sequential across phases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37376" y="1572768"/>
            <a:ext cx="1627632" cy="292608"/>
          </a:xfrm>
          <a:prstGeom prst="roundRect">
            <a:avLst>
              <a:gd name="adj" fmla="val 37500"/>
            </a:avLst>
          </a:prstGeom>
          <a:solidFill>
            <a:srgbClr val="3FB950">
              <a:alpha val="9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62763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Parallel inside a phase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201168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0F15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396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Story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4440" y="2670048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7980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Analysis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328416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0F15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4564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Plan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34440" y="3986784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11480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Gherkin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4440" y="4645152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0F152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7731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Implement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54406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1D9"/>
                </a:solidFill>
              </a:rPr>
              <a:t>Most of your testing workflow is dependency-based. Later phases need the artifacts created earlier.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18120" y="1993392"/>
            <a:ext cx="2057400" cy="530352"/>
          </a:xfrm>
          <a:prstGeom prst="roundRect">
            <a:avLst>
              <a:gd name="adj" fmla="val 20690"/>
            </a:avLst>
          </a:prstGeom>
          <a:solidFill>
            <a:srgbClr val="0F15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21579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Gherkin agent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51392" y="2532888"/>
            <a:ext cx="-1627632" cy="41148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0" y="315468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111A23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3401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1D9"/>
                </a:solidFill>
              </a:rPr>
              <a:t>scan feature folders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851392" y="2532888"/>
            <a:ext cx="109728" cy="41148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21040" y="315468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111A23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0768" y="3401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1D9"/>
                </a:solidFill>
              </a:rPr>
              <a:t>inspect existing scenarios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851392" y="2532888"/>
            <a:ext cx="1847088" cy="41148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315468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111A23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8128" y="3401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1D9"/>
                </a:solidFill>
              </a:rPr>
              <a:t>find best target file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43800" y="4846320"/>
            <a:ext cx="2606040" cy="841248"/>
          </a:xfrm>
          <a:prstGeom prst="roundRect">
            <a:avLst>
              <a:gd name="adj" fmla="val 13043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50840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0F6FC"/>
                </a:solidFill>
              </a:rPr>
              <a:t>GitHub’s `/fleet` guidance: split work into independent artifacts, declare dependencies, and parallelize only what can run separately.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</a:rPr>
              <a:t>Migration pattern teams can rally around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Do not migrate prompt files 1:1. Migrate responsibilities, then design the right agent/skill boundary.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29200"/>
          </a:xfrm>
          <a:prstGeom prst="roundRect">
            <a:avLst>
              <a:gd name="adj" fmla="val 2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4767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Inventory the old prompts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18288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1D9"/>
                </a:solidFill>
              </a:rPr>
              <a:t>List every prompt and the artifact it reads/writes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051560" y="2313432"/>
            <a:ext cx="0" cy="4023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706624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78892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9888" y="2670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Group prompts by phase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2670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1D9"/>
                </a:solidFill>
              </a:rPr>
              <a:t>Story intake, analysis, clarification, planning, Gherkin, implementation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51560" y="3154680"/>
            <a:ext cx="0" cy="4023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4787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6301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35112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Create one agent per major phase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09160" y="351129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1D9"/>
                </a:solidFill>
              </a:rPr>
              <a:t>Keep sessions small and outputs explicit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051560" y="3995928"/>
            <a:ext cx="0" cy="4023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389120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47141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9888" y="43525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Extract repeated mechanics into skills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09160" y="435254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1D9"/>
                </a:solidFill>
              </a:rPr>
              <a:t>Jira pull, traceability, folder scan, step-definition search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051560" y="4837176"/>
            <a:ext cx="0" cy="40233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230368"/>
            <a:ext cx="384048" cy="38404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3126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89888" y="51937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Add subagents where a phase has independent internal work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09160" y="519379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1D9"/>
                </a:solidFill>
              </a:rPr>
              <a:t>Use /fleet-style parallelism only when boundaries are clean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680960" y="562356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1123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578815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B950"/>
                </a:solidFill>
              </a:rPr>
              <a:t>Recommended destination: phase agents + reusable skills + file-based handoffs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</a:rPr>
              <a:t>Bottom 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Prompt files are still useful in IDEs.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But for GitHub Copilot CLI, the durable operating model is: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27432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9900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3401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9D1D9"/>
                </a:solidFill>
              </a:rPr>
              <a:t>own phases and decisions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566160" y="27432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29900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Skills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49040" y="3401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9D1D9"/>
                </a:solidFill>
              </a:rPr>
              <a:t>handle repeatable mechanics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82512" y="27432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9900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Subagents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65392" y="3401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9D1D9"/>
                </a:solidFill>
              </a:rPr>
              <a:t>parallelize isolated work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98864" y="27432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45168" y="29900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</a:rPr>
              <a:t>Artifacts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81744" y="34015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9D1D9"/>
                </a:solidFill>
              </a:rPr>
              <a:t>carry context across sessions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828800" y="493776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0F152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5193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6FC"/>
                </a:solidFill>
              </a:rPr>
              <a:t>The right question going forward is not “How do we preserve every prompt?”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0F6FC"/>
                </a:solidFill>
              </a:rPr>
              <a:t>It is “Which responsibilities deserve an agent, and which tasks should become reusable skills?”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Files to Agents + Skills</dc:title>
  <dc:subject>GitHub Copilot CLI transition from prompt files to agents and skills</dc:subject>
  <dc:creator>OpenAI</dc:creator>
  <cp:lastModifiedBy>OpenAI</cp:lastModifiedBy>
  <cp:revision>1</cp:revision>
  <dcterms:created xsi:type="dcterms:W3CDTF">2026-04-13T23:02:38Z</dcterms:created>
  <dcterms:modified xsi:type="dcterms:W3CDTF">2026-04-13T23:02:38Z</dcterms:modified>
</cp:coreProperties>
</file>